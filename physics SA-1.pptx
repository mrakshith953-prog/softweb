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sldIdLst>
    <p:sldId id="270" r:id="rId2"/>
    <p:sldId id="269" r:id="rId3"/>
    <p:sldId id="257" r:id="rId4"/>
    <p:sldId id="258"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Century Gothic" panose="020B0502020202020204" pitchFamily="34" charset="0"/>
      <p:regular r:id="rId16"/>
      <p:bold r:id="rId17"/>
      <p:italic r:id="rId18"/>
      <p:boldItalic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B148D-B6C0-4DED-ADFE-043A92CC5C35}"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118BC-8439-4500-9D0E-77088BFD8ACF}" type="slidenum">
              <a:rPr lang="en-IN" smtClean="0"/>
              <a:t>‹#›</a:t>
            </a:fld>
            <a:endParaRPr lang="en-IN"/>
          </a:p>
        </p:txBody>
      </p:sp>
    </p:spTree>
    <p:extLst>
      <p:ext uri="{BB962C8B-B14F-4D97-AF65-F5344CB8AC3E}">
        <p14:creationId xmlns:p14="http://schemas.microsoft.com/office/powerpoint/2010/main" val="3602537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2/22/2026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2/22/2026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2/22/2026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2/22/2026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2/22/2026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2/22/2026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2/22/2026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2EFD5-7894-E841-241B-DED49D0BEFEB}"/>
              </a:ext>
            </a:extLst>
          </p:cNvPr>
          <p:cNvSpPr>
            <a:spLocks noGrp="1"/>
          </p:cNvSpPr>
          <p:nvPr>
            <p:ph type="ctrTitle"/>
          </p:nvPr>
        </p:nvSpPr>
        <p:spPr>
          <a:xfrm>
            <a:off x="1371600" y="879675"/>
            <a:ext cx="9448800" cy="1825096"/>
          </a:xfrm>
        </p:spPr>
        <p:txBody>
          <a:bodyPr>
            <a:normAutofit fontScale="90000"/>
          </a:bodyPr>
          <a:lstStyle/>
          <a:p>
            <a:r>
              <a:rPr lang="en-IN" dirty="0"/>
              <a:t>TITLE:</a:t>
            </a:r>
            <a:br>
              <a:rPr lang="en-IN" dirty="0"/>
            </a:br>
            <a:r>
              <a:rPr lang="en-IN" dirty="0"/>
              <a:t>  Quantum Fluctuations</a:t>
            </a:r>
          </a:p>
        </p:txBody>
      </p:sp>
      <p:sp>
        <p:nvSpPr>
          <p:cNvPr id="3" name="Subtitle 2">
            <a:extLst>
              <a:ext uri="{FF2B5EF4-FFF2-40B4-BE49-F238E27FC236}">
                <a16:creationId xmlns:a16="http://schemas.microsoft.com/office/drawing/2014/main" id="{E67F5461-5603-A548-BC8D-F398C032D038}"/>
              </a:ext>
            </a:extLst>
          </p:cNvPr>
          <p:cNvSpPr>
            <a:spLocks noGrp="1"/>
          </p:cNvSpPr>
          <p:nvPr>
            <p:ph type="subTitle" idx="1"/>
          </p:nvPr>
        </p:nvSpPr>
        <p:spPr>
          <a:xfrm>
            <a:off x="2146041" y="3604209"/>
            <a:ext cx="9448800" cy="685800"/>
          </a:xfrm>
        </p:spPr>
        <p:txBody>
          <a:bodyPr>
            <a:normAutofit fontScale="25000" lnSpcReduction="20000"/>
          </a:bodyPr>
          <a:lstStyle/>
          <a:p>
            <a:r>
              <a:rPr lang="en-US" sz="7200" b="1" dirty="0"/>
              <a:t>Definition:</a:t>
            </a:r>
          </a:p>
          <a:p>
            <a:br>
              <a:rPr lang="en-US" dirty="0"/>
            </a:br>
            <a:r>
              <a:rPr lang="en-US" sz="11200" dirty="0"/>
              <a:t>Quantum fluctuations are tiny, temporary changes in energy that occur in empty space due to quantum mechanics.</a:t>
            </a:r>
          </a:p>
          <a:p>
            <a:endParaRPr lang="en-IN" dirty="0"/>
          </a:p>
        </p:txBody>
      </p:sp>
    </p:spTree>
    <p:extLst>
      <p:ext uri="{BB962C8B-B14F-4D97-AF65-F5344CB8AC3E}">
        <p14:creationId xmlns:p14="http://schemas.microsoft.com/office/powerpoint/2010/main" val="2516725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9200-B820-8369-C3B3-DFDFF1EC1C7C}"/>
              </a:ext>
            </a:extLst>
          </p:cNvPr>
          <p:cNvSpPr>
            <a:spLocks noGrp="1"/>
          </p:cNvSpPr>
          <p:nvPr>
            <p:ph type="ctrTitle"/>
          </p:nvPr>
        </p:nvSpPr>
        <p:spPr>
          <a:xfrm>
            <a:off x="1231641" y="637078"/>
            <a:ext cx="9448800" cy="1825096"/>
          </a:xfrm>
        </p:spPr>
        <p:txBody>
          <a:bodyPr/>
          <a:lstStyle/>
          <a:p>
            <a:r>
              <a:rPr lang="en-IN" dirty="0"/>
              <a:t>What are Quantum            Fluctuations?</a:t>
            </a:r>
          </a:p>
        </p:txBody>
      </p:sp>
      <p:sp>
        <p:nvSpPr>
          <p:cNvPr id="3" name="Subtitle 2">
            <a:extLst>
              <a:ext uri="{FF2B5EF4-FFF2-40B4-BE49-F238E27FC236}">
                <a16:creationId xmlns:a16="http://schemas.microsoft.com/office/drawing/2014/main" id="{0E5B81E3-87DA-E0FF-A194-937B0D9F65C3}"/>
              </a:ext>
            </a:extLst>
          </p:cNvPr>
          <p:cNvSpPr>
            <a:spLocks noGrp="1"/>
          </p:cNvSpPr>
          <p:nvPr>
            <p:ph type="subTitle" idx="1"/>
          </p:nvPr>
        </p:nvSpPr>
        <p:spPr>
          <a:xfrm>
            <a:off x="2108718" y="2743200"/>
            <a:ext cx="9448800" cy="685800"/>
          </a:xfrm>
        </p:spPr>
        <p:txBody>
          <a:bodyPr>
            <a:normAutofit fontScale="25000" lnSpcReduction="20000"/>
          </a:bodyPr>
          <a:lstStyle/>
          <a:p>
            <a:pPr lvl="0" eaLnBrk="0" fontAlgn="base" hangingPunct="0">
              <a:lnSpc>
                <a:spcPct val="100000"/>
              </a:lnSpc>
              <a:spcBef>
                <a:spcPct val="0"/>
              </a:spcBef>
              <a:spcAft>
                <a:spcPct val="0"/>
              </a:spcAft>
              <a:buFontTx/>
              <a:buChar char="•"/>
            </a:pPr>
            <a:r>
              <a:rPr lang="en-US" altLang="en-US" sz="8000" dirty="0">
                <a:latin typeface="Arial" panose="020B0604020202020204" pitchFamily="34" charset="0"/>
              </a:rPr>
              <a:t>In quantum physics, </a:t>
            </a:r>
            <a:r>
              <a:rPr lang="en-US" altLang="en-US" sz="8000" b="1" dirty="0">
                <a:latin typeface="Arial" panose="020B0604020202020204" pitchFamily="34" charset="0"/>
              </a:rPr>
              <a:t>empty space is not truly empty</a:t>
            </a:r>
          </a:p>
          <a:p>
            <a:pPr lvl="0" eaLnBrk="0" fontAlgn="base" hangingPunct="0">
              <a:lnSpc>
                <a:spcPct val="100000"/>
              </a:lnSpc>
              <a:spcBef>
                <a:spcPct val="0"/>
              </a:spcBef>
              <a:spcAft>
                <a:spcPct val="0"/>
              </a:spcAft>
              <a:buFontTx/>
              <a:buChar char="•"/>
            </a:pPr>
            <a:endParaRPr lang="en-US" altLang="en-US" sz="8000" dirty="0">
              <a:latin typeface="Arial" panose="020B0604020202020204" pitchFamily="34" charset="0"/>
            </a:endParaRPr>
          </a:p>
          <a:p>
            <a:pPr lvl="0" eaLnBrk="0" fontAlgn="base" hangingPunct="0">
              <a:lnSpc>
                <a:spcPct val="100000"/>
              </a:lnSpc>
              <a:spcBef>
                <a:spcPct val="0"/>
              </a:spcBef>
              <a:spcAft>
                <a:spcPct val="0"/>
              </a:spcAft>
              <a:buFontTx/>
              <a:buChar char="•"/>
            </a:pPr>
            <a:r>
              <a:rPr lang="en-US" altLang="en-US" sz="8000" dirty="0">
                <a:latin typeface="Arial" panose="020B0604020202020204" pitchFamily="34" charset="0"/>
              </a:rPr>
              <a:t>Even in vacuum, </a:t>
            </a:r>
            <a:r>
              <a:rPr lang="en-US" altLang="en-US" sz="8000" b="1" dirty="0">
                <a:latin typeface="Arial" panose="020B0604020202020204" pitchFamily="34" charset="0"/>
              </a:rPr>
              <a:t>energy keeps fluctuating</a:t>
            </a:r>
          </a:p>
          <a:p>
            <a:pPr lvl="0" eaLnBrk="0" fontAlgn="base" hangingPunct="0">
              <a:lnSpc>
                <a:spcPct val="100000"/>
              </a:lnSpc>
              <a:spcBef>
                <a:spcPct val="0"/>
              </a:spcBef>
              <a:spcAft>
                <a:spcPct val="0"/>
              </a:spcAft>
              <a:buFontTx/>
              <a:buChar char="•"/>
            </a:pPr>
            <a:endParaRPr lang="en-US" altLang="en-US" sz="8000" dirty="0">
              <a:latin typeface="Arial" panose="020B0604020202020204" pitchFamily="34" charset="0"/>
            </a:endParaRPr>
          </a:p>
          <a:p>
            <a:pPr lvl="0" eaLnBrk="0" fontAlgn="base" hangingPunct="0">
              <a:lnSpc>
                <a:spcPct val="100000"/>
              </a:lnSpc>
              <a:spcBef>
                <a:spcPct val="0"/>
              </a:spcBef>
              <a:spcAft>
                <a:spcPct val="0"/>
              </a:spcAft>
              <a:buFontTx/>
              <a:buChar char="•"/>
            </a:pPr>
            <a:r>
              <a:rPr lang="en-US" altLang="en-US" sz="8000" dirty="0">
                <a:latin typeface="Arial" panose="020B0604020202020204" pitchFamily="34" charset="0"/>
              </a:rPr>
              <a:t>These fluctuations happen because of the </a:t>
            </a:r>
            <a:r>
              <a:rPr lang="en-US" altLang="en-US" sz="8000" b="1" dirty="0">
                <a:latin typeface="Arial" panose="020B0604020202020204" pitchFamily="34" charset="0"/>
              </a:rPr>
              <a:t>Heisenberg Uncertainty Principle</a:t>
            </a:r>
          </a:p>
          <a:p>
            <a:pPr lvl="0" eaLnBrk="0" fontAlgn="base" hangingPunct="0">
              <a:lnSpc>
                <a:spcPct val="100000"/>
              </a:lnSpc>
              <a:spcBef>
                <a:spcPct val="0"/>
              </a:spcBef>
              <a:spcAft>
                <a:spcPct val="0"/>
              </a:spcAft>
              <a:buFontTx/>
              <a:buChar char="•"/>
            </a:pPr>
            <a:endParaRPr lang="en-US" altLang="en-US" sz="8000" dirty="0">
              <a:latin typeface="Arial" panose="020B0604020202020204" pitchFamily="34" charset="0"/>
            </a:endParaRPr>
          </a:p>
          <a:p>
            <a:pPr lvl="0" eaLnBrk="0" fontAlgn="base" hangingPunct="0">
              <a:lnSpc>
                <a:spcPct val="100000"/>
              </a:lnSpc>
              <a:spcBef>
                <a:spcPct val="0"/>
              </a:spcBef>
              <a:spcAft>
                <a:spcPct val="0"/>
              </a:spcAft>
              <a:buFontTx/>
              <a:buChar char="•"/>
            </a:pPr>
            <a:r>
              <a:rPr lang="en-US" altLang="en-US" sz="8000" dirty="0">
                <a:latin typeface="Arial" panose="020B0604020202020204" pitchFamily="34" charset="0"/>
              </a:rPr>
              <a:t>Particles can appear and disappear for a very short time</a:t>
            </a:r>
          </a:p>
          <a:p>
            <a:endParaRPr lang="en-IN" dirty="0"/>
          </a:p>
        </p:txBody>
      </p:sp>
    </p:spTree>
    <p:extLst>
      <p:ext uri="{BB962C8B-B14F-4D97-AF65-F5344CB8AC3E}">
        <p14:creationId xmlns:p14="http://schemas.microsoft.com/office/powerpoint/2010/main" val="2566719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EB9F-077B-852E-FEEF-1BFD25CF18A7}"/>
              </a:ext>
            </a:extLst>
          </p:cNvPr>
          <p:cNvSpPr>
            <a:spLocks noGrp="1"/>
          </p:cNvSpPr>
          <p:nvPr>
            <p:ph type="ctrTitle"/>
          </p:nvPr>
        </p:nvSpPr>
        <p:spPr>
          <a:xfrm>
            <a:off x="1175657" y="422475"/>
            <a:ext cx="9448800" cy="1825096"/>
          </a:xfrm>
        </p:spPr>
        <p:txBody>
          <a:bodyPr/>
          <a:lstStyle/>
          <a:p>
            <a:r>
              <a:rPr lang="en-IN" dirty="0"/>
              <a:t>Why Do Quantum Fluctuations Occur?</a:t>
            </a:r>
          </a:p>
        </p:txBody>
      </p:sp>
      <p:sp>
        <p:nvSpPr>
          <p:cNvPr id="4" name="Rectangle 1">
            <a:extLst>
              <a:ext uri="{FF2B5EF4-FFF2-40B4-BE49-F238E27FC236}">
                <a16:creationId xmlns:a16="http://schemas.microsoft.com/office/drawing/2014/main" id="{5C13CFCC-00DC-1E69-05C3-75A339B351CB}"/>
              </a:ext>
            </a:extLst>
          </p:cNvPr>
          <p:cNvSpPr>
            <a:spLocks noGrp="1" noChangeArrowheads="1"/>
          </p:cNvSpPr>
          <p:nvPr>
            <p:ph type="subTitle" idx="1"/>
          </p:nvPr>
        </p:nvSpPr>
        <p:spPr bwMode="auto">
          <a:xfrm>
            <a:off x="1371600" y="2820940"/>
            <a:ext cx="73693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According to the </a:t>
            </a:r>
            <a:r>
              <a:rPr kumimoji="0" lang="en-US" altLang="en-US" sz="1800" b="1" i="0" u="none" strike="noStrike" cap="none" normalizeH="0" baseline="0" dirty="0">
                <a:ln>
                  <a:noFill/>
                </a:ln>
                <a:solidFill>
                  <a:schemeClr val="tx1"/>
                </a:solidFill>
                <a:effectLst/>
                <a:latin typeface="Arial" panose="020B0604020202020204" pitchFamily="34" charset="0"/>
              </a:rPr>
              <a:t>Uncertainty Principle</a:t>
            </a:r>
            <a:r>
              <a:rPr lang="en-US" altLang="en-US" sz="1800"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*Energy and time cannot be measured exactly at the same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Because of this: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*Small energy changes are allowed for a short time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*This causes </a:t>
            </a:r>
            <a:r>
              <a:rPr kumimoji="0" lang="en-US" altLang="en-US" sz="1800" b="1" i="0" u="none" strike="noStrike" cap="none" normalizeH="0" baseline="0" dirty="0">
                <a:ln>
                  <a:noFill/>
                </a:ln>
                <a:solidFill>
                  <a:schemeClr val="tx1"/>
                </a:solidFill>
                <a:effectLst/>
                <a:latin typeface="Arial" panose="020B0604020202020204" pitchFamily="34" charset="0"/>
              </a:rPr>
              <a:t>temporary particle creation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4219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A0DB-53C4-8D8B-A2AF-645DEE7EA7D2}"/>
              </a:ext>
            </a:extLst>
          </p:cNvPr>
          <p:cNvSpPr>
            <a:spLocks noGrp="1"/>
          </p:cNvSpPr>
          <p:nvPr>
            <p:ph type="ctrTitle"/>
          </p:nvPr>
        </p:nvSpPr>
        <p:spPr>
          <a:xfrm>
            <a:off x="1166326" y="111968"/>
            <a:ext cx="9448800" cy="2144934"/>
          </a:xfrm>
        </p:spPr>
        <p:txBody>
          <a:bodyPr/>
          <a:lstStyle/>
          <a:p>
            <a:r>
              <a:rPr lang="en-US" dirty="0"/>
              <a:t>Role of Heisenberg Uncertainty Principle:</a:t>
            </a:r>
            <a:endParaRPr lang="en-IN" dirty="0"/>
          </a:p>
        </p:txBody>
      </p:sp>
      <p:sp>
        <p:nvSpPr>
          <p:cNvPr id="3" name="Subtitle 2">
            <a:extLst>
              <a:ext uri="{FF2B5EF4-FFF2-40B4-BE49-F238E27FC236}">
                <a16:creationId xmlns:a16="http://schemas.microsoft.com/office/drawing/2014/main" id="{90F5B2FE-A9E8-F7F0-F181-44CA7909C32D}"/>
              </a:ext>
            </a:extLst>
          </p:cNvPr>
          <p:cNvSpPr>
            <a:spLocks noGrp="1"/>
          </p:cNvSpPr>
          <p:nvPr>
            <p:ph type="subTitle" idx="1"/>
          </p:nvPr>
        </p:nvSpPr>
        <p:spPr>
          <a:xfrm>
            <a:off x="1667846" y="2630560"/>
            <a:ext cx="9448800" cy="685800"/>
          </a:xfrm>
        </p:spPr>
        <p:txBody>
          <a:bodyPr>
            <a:normAutofit fontScale="25000" lnSpcReduction="20000"/>
          </a:bodyPr>
          <a:lstStyle/>
          <a:p>
            <a:r>
              <a:rPr lang="en-US" sz="9600" dirty="0"/>
              <a:t>1.States limits on measurement accuracy</a:t>
            </a:r>
          </a:p>
          <a:p>
            <a:endParaRPr lang="en-US" sz="9600" dirty="0"/>
          </a:p>
          <a:p>
            <a:r>
              <a:rPr lang="en-US" sz="9600" dirty="0"/>
              <a:t>2.Energy and time have uncertainty</a:t>
            </a:r>
          </a:p>
          <a:p>
            <a:endParaRPr lang="en-US" sz="9600" dirty="0"/>
          </a:p>
          <a:p>
            <a:r>
              <a:rPr lang="en-US" sz="9600" dirty="0"/>
              <a:t>3.Perfect zero energy is impossible</a:t>
            </a:r>
          </a:p>
          <a:p>
            <a:endParaRPr lang="en-US" sz="9600" dirty="0"/>
          </a:p>
          <a:p>
            <a:r>
              <a:rPr lang="en-US" sz="9600" dirty="0"/>
              <a:t>4.Allows short-lived energy changes</a:t>
            </a:r>
          </a:p>
          <a:p>
            <a:endParaRPr lang="en-IN" dirty="0"/>
          </a:p>
        </p:txBody>
      </p:sp>
    </p:spTree>
    <p:extLst>
      <p:ext uri="{BB962C8B-B14F-4D97-AF65-F5344CB8AC3E}">
        <p14:creationId xmlns:p14="http://schemas.microsoft.com/office/powerpoint/2010/main" val="3019552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E536-4115-0075-4737-016AFFE80737}"/>
              </a:ext>
            </a:extLst>
          </p:cNvPr>
          <p:cNvSpPr>
            <a:spLocks noGrp="1"/>
          </p:cNvSpPr>
          <p:nvPr>
            <p:ph type="ctrTitle"/>
          </p:nvPr>
        </p:nvSpPr>
        <p:spPr>
          <a:xfrm>
            <a:off x="1156995" y="515780"/>
            <a:ext cx="9448800" cy="1825096"/>
          </a:xfrm>
        </p:spPr>
        <p:txBody>
          <a:bodyPr/>
          <a:lstStyle/>
          <a:p>
            <a:r>
              <a:rPr lang="en-IN" dirty="0"/>
              <a:t>Effects of Quantum Fluctuations:</a:t>
            </a:r>
          </a:p>
        </p:txBody>
      </p:sp>
      <p:sp>
        <p:nvSpPr>
          <p:cNvPr id="3" name="Subtitle 2">
            <a:extLst>
              <a:ext uri="{FF2B5EF4-FFF2-40B4-BE49-F238E27FC236}">
                <a16:creationId xmlns:a16="http://schemas.microsoft.com/office/drawing/2014/main" id="{26A2F8BA-0604-EE6B-905A-C38FFF3DA18B}"/>
              </a:ext>
            </a:extLst>
          </p:cNvPr>
          <p:cNvSpPr>
            <a:spLocks noGrp="1"/>
          </p:cNvSpPr>
          <p:nvPr>
            <p:ph type="subTitle" idx="1"/>
          </p:nvPr>
        </p:nvSpPr>
        <p:spPr>
          <a:xfrm>
            <a:off x="2481941" y="2547257"/>
            <a:ext cx="9448800" cy="685800"/>
          </a:xfrm>
        </p:spPr>
        <p:txBody>
          <a:bodyPr>
            <a:normAutofit fontScale="25000" lnSpcReduction="20000"/>
          </a:bodyPr>
          <a:lstStyle/>
          <a:p>
            <a:r>
              <a:rPr lang="en-US" sz="8000" dirty="0"/>
              <a:t>1.Responsible for the Casimir Effect</a:t>
            </a:r>
          </a:p>
          <a:p>
            <a:endParaRPr lang="en-US" sz="8000" dirty="0"/>
          </a:p>
          <a:p>
            <a:r>
              <a:rPr lang="en-US" sz="8000" dirty="0"/>
              <a:t>2.Explain Hawking radiation near black holes</a:t>
            </a:r>
          </a:p>
          <a:p>
            <a:endParaRPr lang="en-US" sz="8000" dirty="0"/>
          </a:p>
          <a:p>
            <a:r>
              <a:rPr lang="en-US" sz="8000" dirty="0"/>
              <a:t>3.Affect atomic and subatomic behavior</a:t>
            </a:r>
          </a:p>
          <a:p>
            <a:endParaRPr lang="en-US" sz="8000" dirty="0"/>
          </a:p>
          <a:p>
            <a:r>
              <a:rPr lang="en-US" sz="8000" dirty="0"/>
              <a:t>4.Influence vacuum energy</a:t>
            </a:r>
          </a:p>
          <a:p>
            <a:endParaRPr lang="en-US" sz="8000" dirty="0"/>
          </a:p>
          <a:p>
            <a:r>
              <a:rPr lang="en-US" sz="8000" dirty="0"/>
              <a:t>5.Important in quantum field theory</a:t>
            </a:r>
          </a:p>
          <a:p>
            <a:endParaRPr lang="en-IN" dirty="0"/>
          </a:p>
        </p:txBody>
      </p:sp>
    </p:spTree>
    <p:extLst>
      <p:ext uri="{BB962C8B-B14F-4D97-AF65-F5344CB8AC3E}">
        <p14:creationId xmlns:p14="http://schemas.microsoft.com/office/powerpoint/2010/main" val="216697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98B8-C0CC-D681-5167-90C7D5023A75}"/>
              </a:ext>
            </a:extLst>
          </p:cNvPr>
          <p:cNvSpPr>
            <a:spLocks noGrp="1"/>
          </p:cNvSpPr>
          <p:nvPr>
            <p:ph type="ctrTitle"/>
          </p:nvPr>
        </p:nvSpPr>
        <p:spPr>
          <a:xfrm>
            <a:off x="1287624" y="263854"/>
            <a:ext cx="9448800" cy="1825096"/>
          </a:xfrm>
        </p:spPr>
        <p:txBody>
          <a:bodyPr/>
          <a:lstStyle/>
          <a:p>
            <a:r>
              <a:rPr lang="en-IN" dirty="0"/>
              <a:t>Importance and</a:t>
            </a:r>
            <a:br>
              <a:rPr lang="en-IN" dirty="0"/>
            </a:br>
            <a:r>
              <a:rPr lang="en-IN" dirty="0"/>
              <a:t>Applications:</a:t>
            </a:r>
          </a:p>
        </p:txBody>
      </p:sp>
      <p:sp>
        <p:nvSpPr>
          <p:cNvPr id="4" name="Rectangle 1">
            <a:extLst>
              <a:ext uri="{FF2B5EF4-FFF2-40B4-BE49-F238E27FC236}">
                <a16:creationId xmlns:a16="http://schemas.microsoft.com/office/drawing/2014/main" id="{C943B76B-2D14-3AE0-04F4-97FA708F000D}"/>
              </a:ext>
            </a:extLst>
          </p:cNvPr>
          <p:cNvSpPr>
            <a:spLocks noGrp="1" noChangeArrowheads="1"/>
          </p:cNvSpPr>
          <p:nvPr>
            <p:ph type="subTitle" idx="1"/>
          </p:nvPr>
        </p:nvSpPr>
        <p:spPr bwMode="auto">
          <a:xfrm>
            <a:off x="2612571" y="2228307"/>
            <a:ext cx="561083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Helps understand vacuum nature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Supports modern quantum theories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Important in cosmology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Explains universe expansion ideas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Used in advanced physics research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15479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AF4C8-4A24-394B-E86A-AE792B1BB0C1}"/>
              </a:ext>
            </a:extLst>
          </p:cNvPr>
          <p:cNvSpPr>
            <a:spLocks noGrp="1"/>
          </p:cNvSpPr>
          <p:nvPr>
            <p:ph type="ctrTitle"/>
          </p:nvPr>
        </p:nvSpPr>
        <p:spPr>
          <a:xfrm>
            <a:off x="1567543" y="198540"/>
            <a:ext cx="9448800" cy="1825096"/>
          </a:xfrm>
        </p:spPr>
        <p:txBody>
          <a:bodyPr/>
          <a:lstStyle/>
          <a:p>
            <a:r>
              <a:rPr lang="en-IN" dirty="0"/>
              <a:t>Conclusion :</a:t>
            </a:r>
          </a:p>
        </p:txBody>
      </p:sp>
      <p:sp>
        <p:nvSpPr>
          <p:cNvPr id="3" name="Subtitle 2">
            <a:extLst>
              <a:ext uri="{FF2B5EF4-FFF2-40B4-BE49-F238E27FC236}">
                <a16:creationId xmlns:a16="http://schemas.microsoft.com/office/drawing/2014/main" id="{CB389C19-BB0A-B663-726E-7AEBA14FD4B6}"/>
              </a:ext>
            </a:extLst>
          </p:cNvPr>
          <p:cNvSpPr>
            <a:spLocks noGrp="1"/>
          </p:cNvSpPr>
          <p:nvPr>
            <p:ph type="subTitle" idx="1"/>
          </p:nvPr>
        </p:nvSpPr>
        <p:spPr>
          <a:xfrm>
            <a:off x="2575249" y="2381899"/>
            <a:ext cx="9448800" cy="685800"/>
          </a:xfrm>
        </p:spPr>
        <p:txBody>
          <a:bodyPr>
            <a:normAutofit fontScale="25000" lnSpcReduction="20000"/>
          </a:bodyPr>
          <a:lstStyle/>
          <a:p>
            <a:r>
              <a:rPr lang="en-US" sz="9600" dirty="0"/>
              <a:t>Quantum fluctuations show that empty space is not truly empty but filled with tiny, temporary energy changes. These occur due to the Heisenberg Uncertainty Principle and lead to the creation of virtual particles. They play an important role in modern physics and highlight the limits of classical physics.</a:t>
            </a:r>
          </a:p>
          <a:p>
            <a:endParaRPr lang="en-IN" dirty="0"/>
          </a:p>
        </p:txBody>
      </p:sp>
    </p:spTree>
    <p:extLst>
      <p:ext uri="{BB962C8B-B14F-4D97-AF65-F5344CB8AC3E}">
        <p14:creationId xmlns:p14="http://schemas.microsoft.com/office/powerpoint/2010/main" val="2388411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E82B0-1128-CEB6-E8FC-4FB764DD7E72}"/>
              </a:ext>
            </a:extLst>
          </p:cNvPr>
          <p:cNvSpPr>
            <a:spLocks noGrp="1"/>
          </p:cNvSpPr>
          <p:nvPr>
            <p:ph type="ctrTitle"/>
          </p:nvPr>
        </p:nvSpPr>
        <p:spPr>
          <a:xfrm>
            <a:off x="1670180" y="1327544"/>
            <a:ext cx="9448800" cy="1825096"/>
          </a:xfrm>
        </p:spPr>
        <p:txBody>
          <a:bodyPr>
            <a:normAutofit fontScale="90000"/>
          </a:bodyPr>
          <a:lstStyle/>
          <a:p>
            <a:r>
              <a:rPr lang="en-IN" dirty="0"/>
              <a:t>TITLE:</a:t>
            </a:r>
            <a:br>
              <a:rPr lang="en-IN" dirty="0"/>
            </a:br>
            <a:r>
              <a:rPr lang="en-IN" dirty="0"/>
              <a:t> Role of Quantum Optics   in Quantum Computing</a:t>
            </a:r>
          </a:p>
        </p:txBody>
      </p:sp>
      <p:sp>
        <p:nvSpPr>
          <p:cNvPr id="3" name="Subtitle 2">
            <a:extLst>
              <a:ext uri="{FF2B5EF4-FFF2-40B4-BE49-F238E27FC236}">
                <a16:creationId xmlns:a16="http://schemas.microsoft.com/office/drawing/2014/main" id="{EEDB003D-B196-3506-0858-B8F74F3143C9}"/>
              </a:ext>
            </a:extLst>
          </p:cNvPr>
          <p:cNvSpPr>
            <a:spLocks noGrp="1"/>
          </p:cNvSpPr>
          <p:nvPr>
            <p:ph type="subTitle" idx="1"/>
          </p:nvPr>
        </p:nvSpPr>
        <p:spPr>
          <a:xfrm>
            <a:off x="2743200" y="3429000"/>
            <a:ext cx="9448800" cy="685800"/>
          </a:xfrm>
        </p:spPr>
        <p:txBody>
          <a:bodyPr>
            <a:noAutofit/>
          </a:bodyPr>
          <a:lstStyle/>
          <a:p>
            <a:r>
              <a:rPr lang="en-US" sz="2800" b="1" dirty="0"/>
              <a:t>Quantum Optics:</a:t>
            </a:r>
            <a:r>
              <a:rPr lang="en-US" sz="2800" dirty="0"/>
              <a:t> Study of light at quantum level</a:t>
            </a:r>
          </a:p>
          <a:p>
            <a:br>
              <a:rPr lang="en-US" sz="2800" dirty="0"/>
            </a:br>
            <a:r>
              <a:rPr lang="en-US" sz="2800" b="1" dirty="0"/>
              <a:t>Quantum Computing:</a:t>
            </a:r>
            <a:r>
              <a:rPr lang="en-US" sz="2800" dirty="0"/>
              <a:t> Computing using quantum mechanical principles</a:t>
            </a:r>
            <a:endParaRPr lang="en-IN" sz="2800" dirty="0"/>
          </a:p>
        </p:txBody>
      </p:sp>
    </p:spTree>
    <p:extLst>
      <p:ext uri="{BB962C8B-B14F-4D97-AF65-F5344CB8AC3E}">
        <p14:creationId xmlns:p14="http://schemas.microsoft.com/office/powerpoint/2010/main" val="3975783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EE43-625C-934C-1D7B-AA0BF19EFFCD}"/>
              </a:ext>
            </a:extLst>
          </p:cNvPr>
          <p:cNvSpPr>
            <a:spLocks noGrp="1"/>
          </p:cNvSpPr>
          <p:nvPr>
            <p:ph type="ctrTitle"/>
          </p:nvPr>
        </p:nvSpPr>
        <p:spPr>
          <a:xfrm>
            <a:off x="1744825" y="916997"/>
            <a:ext cx="9448800" cy="1825096"/>
          </a:xfrm>
        </p:spPr>
        <p:txBody>
          <a:bodyPr/>
          <a:lstStyle/>
          <a:p>
            <a:r>
              <a:rPr lang="en-IN" dirty="0"/>
              <a:t>What is Quantum Optics?</a:t>
            </a:r>
          </a:p>
        </p:txBody>
      </p:sp>
      <p:sp>
        <p:nvSpPr>
          <p:cNvPr id="4" name="Rectangle 1">
            <a:extLst>
              <a:ext uri="{FF2B5EF4-FFF2-40B4-BE49-F238E27FC236}">
                <a16:creationId xmlns:a16="http://schemas.microsoft.com/office/drawing/2014/main" id="{1B6F8208-1639-053D-3770-4A483B5C0ED0}"/>
              </a:ext>
            </a:extLst>
          </p:cNvPr>
          <p:cNvSpPr>
            <a:spLocks noGrp="1" noChangeArrowheads="1"/>
          </p:cNvSpPr>
          <p:nvPr>
            <p:ph type="subTitle" idx="1"/>
          </p:nvPr>
        </p:nvSpPr>
        <p:spPr bwMode="auto">
          <a:xfrm>
            <a:off x="2733870" y="2933259"/>
            <a:ext cx="558678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Quantum optics studies light as photons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explains interaction between light and matter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Photons behave as both particles and waves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principles like superposition and entanglement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Lasers and optical devices are key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Forms the basis for optical quantum technologies</a:t>
            </a:r>
          </a:p>
        </p:txBody>
      </p:sp>
    </p:spTree>
    <p:extLst>
      <p:ext uri="{BB962C8B-B14F-4D97-AF65-F5344CB8AC3E}">
        <p14:creationId xmlns:p14="http://schemas.microsoft.com/office/powerpoint/2010/main" val="3506741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240F-8E54-4F53-8400-EEE73A79FE60}"/>
              </a:ext>
            </a:extLst>
          </p:cNvPr>
          <p:cNvSpPr>
            <a:spLocks noGrp="1"/>
          </p:cNvSpPr>
          <p:nvPr>
            <p:ph type="ctrTitle"/>
          </p:nvPr>
        </p:nvSpPr>
        <p:spPr>
          <a:xfrm>
            <a:off x="1903445" y="861013"/>
            <a:ext cx="9448800" cy="1825096"/>
          </a:xfrm>
        </p:spPr>
        <p:txBody>
          <a:bodyPr/>
          <a:lstStyle/>
          <a:p>
            <a:r>
              <a:rPr lang="en-IN" dirty="0"/>
              <a:t>What is Quantum Computing?</a:t>
            </a:r>
          </a:p>
        </p:txBody>
      </p:sp>
      <p:sp>
        <p:nvSpPr>
          <p:cNvPr id="4" name="Rectangle 1">
            <a:extLst>
              <a:ext uri="{FF2B5EF4-FFF2-40B4-BE49-F238E27FC236}">
                <a16:creationId xmlns:a16="http://schemas.microsoft.com/office/drawing/2014/main" id="{5A543011-B9CA-E28E-F622-8739E7E0F645}"/>
              </a:ext>
            </a:extLst>
          </p:cNvPr>
          <p:cNvSpPr>
            <a:spLocks noGrp="1" noChangeArrowheads="1"/>
          </p:cNvSpPr>
          <p:nvPr>
            <p:ph type="subTitle" idx="1"/>
          </p:nvPr>
        </p:nvSpPr>
        <p:spPr bwMode="auto">
          <a:xfrm>
            <a:off x="3153747" y="2923928"/>
            <a:ext cx="466345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Uses qubits instead of classical bits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Qubits can exist in superposition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parallel computation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quantum principles like entanglement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Faster for certain complex problems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More powerful than classical computers</a:t>
            </a:r>
          </a:p>
        </p:txBody>
      </p:sp>
    </p:spTree>
    <p:extLst>
      <p:ext uri="{BB962C8B-B14F-4D97-AF65-F5344CB8AC3E}">
        <p14:creationId xmlns:p14="http://schemas.microsoft.com/office/powerpoint/2010/main" val="2617987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669FF-9917-8A24-3D6C-F975545DEC36}"/>
              </a:ext>
            </a:extLst>
          </p:cNvPr>
          <p:cNvSpPr>
            <a:spLocks noGrp="1"/>
          </p:cNvSpPr>
          <p:nvPr>
            <p:ph type="ctrTitle"/>
          </p:nvPr>
        </p:nvSpPr>
        <p:spPr>
          <a:xfrm>
            <a:off x="1707502" y="842353"/>
            <a:ext cx="9448800" cy="1825096"/>
          </a:xfrm>
        </p:spPr>
        <p:txBody>
          <a:bodyPr/>
          <a:lstStyle/>
          <a:p>
            <a:r>
              <a:rPr lang="en-US" dirty="0"/>
              <a:t>Role of Quantum Optics in Qubits</a:t>
            </a:r>
            <a:endParaRPr lang="en-IN" dirty="0"/>
          </a:p>
        </p:txBody>
      </p:sp>
      <p:sp>
        <p:nvSpPr>
          <p:cNvPr id="3" name="Subtitle 2">
            <a:extLst>
              <a:ext uri="{FF2B5EF4-FFF2-40B4-BE49-F238E27FC236}">
                <a16:creationId xmlns:a16="http://schemas.microsoft.com/office/drawing/2014/main" id="{EF7A6ACC-6728-FAD7-D737-88A1FBB94254}"/>
              </a:ext>
            </a:extLst>
          </p:cNvPr>
          <p:cNvSpPr>
            <a:spLocks noGrp="1"/>
          </p:cNvSpPr>
          <p:nvPr>
            <p:ph type="subTitle" idx="1"/>
          </p:nvPr>
        </p:nvSpPr>
        <p:spPr>
          <a:xfrm>
            <a:off x="2939142" y="2932406"/>
            <a:ext cx="9448800" cy="685800"/>
          </a:xfrm>
        </p:spPr>
        <p:txBody>
          <a:bodyPr>
            <a:normAutofit fontScale="25000" lnSpcReduction="20000"/>
          </a:bodyPr>
          <a:lstStyle/>
          <a:p>
            <a:r>
              <a:rPr lang="en-US" sz="9600" dirty="0"/>
              <a:t>1.Photons are used as qubits</a:t>
            </a:r>
          </a:p>
          <a:p>
            <a:r>
              <a:rPr lang="en-US" sz="9600" dirty="0"/>
              <a:t>2.Photon polarization represents qubit states</a:t>
            </a:r>
          </a:p>
          <a:p>
            <a:r>
              <a:rPr lang="en-US" sz="9600" dirty="0"/>
              <a:t>3.Light is less affected by noise</a:t>
            </a:r>
          </a:p>
          <a:p>
            <a:r>
              <a:rPr lang="en-US" sz="9600" dirty="0"/>
              <a:t>4.Optical qubits have long coherence time</a:t>
            </a:r>
          </a:p>
          <a:p>
            <a:r>
              <a:rPr lang="en-US" sz="9600" dirty="0"/>
              <a:t>5.Easy transmission through optical fibers</a:t>
            </a:r>
          </a:p>
          <a:p>
            <a:r>
              <a:rPr lang="en-US" sz="9600" dirty="0"/>
              <a:t>6.Suitable for quantum communication</a:t>
            </a:r>
          </a:p>
          <a:p>
            <a:endParaRPr lang="en-IN" dirty="0"/>
          </a:p>
        </p:txBody>
      </p:sp>
    </p:spTree>
    <p:extLst>
      <p:ext uri="{BB962C8B-B14F-4D97-AF65-F5344CB8AC3E}">
        <p14:creationId xmlns:p14="http://schemas.microsoft.com/office/powerpoint/2010/main" val="4195632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A722-2D21-9DE1-BD05-3CAF5F776BA2}"/>
              </a:ext>
            </a:extLst>
          </p:cNvPr>
          <p:cNvSpPr>
            <a:spLocks noGrp="1"/>
          </p:cNvSpPr>
          <p:nvPr>
            <p:ph type="ctrTitle"/>
          </p:nvPr>
        </p:nvSpPr>
        <p:spPr>
          <a:xfrm>
            <a:off x="1670180" y="487789"/>
            <a:ext cx="9448800" cy="1825096"/>
          </a:xfrm>
        </p:spPr>
        <p:txBody>
          <a:bodyPr/>
          <a:lstStyle/>
          <a:p>
            <a:r>
              <a:rPr lang="en-IN" dirty="0"/>
              <a:t>Quantum Optics Techniques Used:</a:t>
            </a:r>
          </a:p>
        </p:txBody>
      </p:sp>
      <p:sp>
        <p:nvSpPr>
          <p:cNvPr id="3" name="Subtitle 2">
            <a:extLst>
              <a:ext uri="{FF2B5EF4-FFF2-40B4-BE49-F238E27FC236}">
                <a16:creationId xmlns:a16="http://schemas.microsoft.com/office/drawing/2014/main" id="{811DA89F-375C-2CF0-9F74-0CD5836C6B4B}"/>
              </a:ext>
            </a:extLst>
          </p:cNvPr>
          <p:cNvSpPr>
            <a:spLocks noGrp="1"/>
          </p:cNvSpPr>
          <p:nvPr>
            <p:ph type="subTitle" idx="1"/>
          </p:nvPr>
        </p:nvSpPr>
        <p:spPr>
          <a:xfrm>
            <a:off x="2659224" y="2565918"/>
            <a:ext cx="9448800" cy="685800"/>
          </a:xfrm>
        </p:spPr>
        <p:txBody>
          <a:bodyPr>
            <a:normAutofit fontScale="25000" lnSpcReduction="20000"/>
          </a:bodyPr>
          <a:lstStyle/>
          <a:p>
            <a:r>
              <a:rPr lang="en-IN" sz="11200" dirty="0"/>
              <a:t>1.Lasers used to control qubit states</a:t>
            </a:r>
          </a:p>
          <a:p>
            <a:r>
              <a:rPr lang="en-IN" sz="11200" dirty="0"/>
              <a:t>2.Optical cavities enhance light–matter interaction</a:t>
            </a:r>
          </a:p>
          <a:p>
            <a:r>
              <a:rPr lang="en-IN" sz="11200" dirty="0"/>
              <a:t>3.Beam splitters create superposition</a:t>
            </a:r>
          </a:p>
          <a:p>
            <a:r>
              <a:rPr lang="en-IN" sz="11200" dirty="0"/>
              <a:t>4.Detectors measure quantum states</a:t>
            </a:r>
          </a:p>
          <a:p>
            <a:r>
              <a:rPr lang="en-IN" sz="11200" dirty="0"/>
              <a:t>5.Nonlinear optics enables entanglement</a:t>
            </a:r>
          </a:p>
          <a:p>
            <a:r>
              <a:rPr lang="en-IN" sz="11200" dirty="0"/>
              <a:t>6.Used in quantum gates implementation</a:t>
            </a:r>
          </a:p>
          <a:p>
            <a:endParaRPr lang="en-IN" dirty="0"/>
          </a:p>
        </p:txBody>
      </p:sp>
    </p:spTree>
    <p:extLst>
      <p:ext uri="{BB962C8B-B14F-4D97-AF65-F5344CB8AC3E}">
        <p14:creationId xmlns:p14="http://schemas.microsoft.com/office/powerpoint/2010/main" val="2206490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B2B02-7384-B5B8-FB31-EA7D23375A12}"/>
              </a:ext>
            </a:extLst>
          </p:cNvPr>
          <p:cNvSpPr>
            <a:spLocks noGrp="1"/>
          </p:cNvSpPr>
          <p:nvPr>
            <p:ph type="ctrTitle"/>
          </p:nvPr>
        </p:nvSpPr>
        <p:spPr>
          <a:xfrm>
            <a:off x="1464906" y="235862"/>
            <a:ext cx="9448800" cy="1825096"/>
          </a:xfrm>
        </p:spPr>
        <p:txBody>
          <a:bodyPr/>
          <a:lstStyle/>
          <a:p>
            <a:r>
              <a:rPr lang="en-IN" dirty="0"/>
              <a:t>Conclusion :</a:t>
            </a:r>
          </a:p>
        </p:txBody>
      </p:sp>
      <p:sp>
        <p:nvSpPr>
          <p:cNvPr id="3" name="Subtitle 2">
            <a:extLst>
              <a:ext uri="{FF2B5EF4-FFF2-40B4-BE49-F238E27FC236}">
                <a16:creationId xmlns:a16="http://schemas.microsoft.com/office/drawing/2014/main" id="{DAF15351-A8A0-2440-5E6F-345D62EA274E}"/>
              </a:ext>
            </a:extLst>
          </p:cNvPr>
          <p:cNvSpPr>
            <a:spLocks noGrp="1"/>
          </p:cNvSpPr>
          <p:nvPr>
            <p:ph type="subTitle" idx="1"/>
          </p:nvPr>
        </p:nvSpPr>
        <p:spPr>
          <a:xfrm>
            <a:off x="2519265" y="2381898"/>
            <a:ext cx="9448800" cy="685800"/>
          </a:xfrm>
        </p:spPr>
        <p:txBody>
          <a:bodyPr>
            <a:normAutofit fontScale="25000" lnSpcReduction="20000"/>
          </a:bodyPr>
          <a:lstStyle/>
          <a:p>
            <a:r>
              <a:rPr lang="en-IN" sz="9600" dirty="0"/>
              <a:t>Quantum optics plays a crucial role in quantum computing by using photons to create, control, and transmit qubits efficiently. Its techniques enable superposition, entanglement, and low-noise operations, which are essential for reliable quantum computation. Overall, quantum optics forms a strong foundation for the development of advanced and scalable quantum computing technologies.</a:t>
            </a:r>
          </a:p>
          <a:p>
            <a:endParaRPr lang="en-IN" dirty="0"/>
          </a:p>
        </p:txBody>
      </p:sp>
    </p:spTree>
    <p:extLst>
      <p:ext uri="{BB962C8B-B14F-4D97-AF65-F5344CB8AC3E}">
        <p14:creationId xmlns:p14="http://schemas.microsoft.com/office/powerpoint/2010/main" val="204777604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54</TotalTime>
  <Words>534</Words>
  <Application>Microsoft Office PowerPoint</Application>
  <PresentationFormat>Widescreen</PresentationFormat>
  <Paragraphs>83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Century Gothic</vt:lpstr>
      <vt:lpstr>Calibri</vt:lpstr>
      <vt:lpstr>Arial</vt:lpstr>
      <vt:lpstr>Vapor Trail</vt:lpstr>
      <vt:lpstr>TITLE:   Quantum Fluctuations</vt:lpstr>
      <vt:lpstr>What are Quantum            Fluctuations?</vt:lpstr>
      <vt:lpstr>Why Do Quantum Fluctuations Occur?</vt:lpstr>
      <vt:lpstr>Role of Heisenberg Uncertainty Principle:</vt:lpstr>
      <vt:lpstr>Effects of Quantum Fluctuations:</vt:lpstr>
      <vt:lpstr>Importance and Applications:</vt:lpstr>
      <vt:lpstr>Conclusion :</vt:lpstr>
      <vt:lpstr>TITLE:  Role of Quantum Optics   in Quantum Computing</vt:lpstr>
      <vt:lpstr>What is Quantum Optics?</vt:lpstr>
      <vt:lpstr>What is Quantum Computing?</vt:lpstr>
      <vt:lpstr>Role of Quantum Optics in Qubits</vt:lpstr>
      <vt:lpstr>Quantum Optics Techniques Used:</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Rakshith .M</dc:creator>
  <cp:lastModifiedBy>Rakshith .M</cp:lastModifiedBy>
  <cp:revision>1</cp:revision>
  <dcterms:created xsi:type="dcterms:W3CDTF">2026-02-22T14:44:10Z</dcterms:created>
  <dcterms:modified xsi:type="dcterms:W3CDTF">2026-02-22T15:38:37Z</dcterms:modified>
</cp:coreProperties>
</file>